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7.2</c:v>
                </c:pt>
                <c:pt idx="2">
                  <c:v>10.6</c:v>
                </c:pt>
                <c:pt idx="3">
                  <c:v>13.9</c:v>
                </c:pt>
                <c:pt idx="4">
                  <c:v>17.3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00841584"/>
        <c:axId val="400840800"/>
      </c:barChart>
      <c:catAx>
        <c:axId val="400841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0800"/>
        <c:crosses val="autoZero"/>
        <c:auto val="1"/>
        <c:lblAlgn val="ctr"/>
        <c:lblOffset val="100"/>
        <c:noMultiLvlLbl val="1"/>
      </c:catAx>
      <c:valAx>
        <c:axId val="40084080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0A8B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0A8BC"/>
                    </a:solidFill>
                    <a:latin typeface="Arial"/>
                  </a:rPr>
                  <a:t>млн ₽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1584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Оптимистичный сценарий (млн ₽)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7.2</c:v>
                </c:pt>
                <c:pt idx="2">
                  <c:v>10.6</c:v>
                </c:pt>
                <c:pt idx="3">
                  <c:v>13.9</c:v>
                </c:pt>
                <c:pt idx="4">
                  <c:v>17.3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1E3A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5.4</c:v>
                </c:pt>
                <c:pt idx="1">
                  <c:v>6.7</c:v>
                </c:pt>
                <c:pt idx="2">
                  <c:v>7.8</c:v>
                </c:pt>
                <c:pt idx="3">
                  <c:v>8.1999999999999993</c:v>
                </c:pt>
                <c:pt idx="4">
                  <c:v>8.6999999999999993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845896"/>
        <c:axId val="400844328"/>
      </c:barChart>
      <c:catAx>
        <c:axId val="400845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4328"/>
        <c:crosses val="autoZero"/>
        <c:auto val="1"/>
        <c:lblAlgn val="ctr"/>
        <c:lblOffset val="100"/>
        <c:noMultiLvlLbl val="1"/>
      </c:catAx>
      <c:valAx>
        <c:axId val="40084432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5896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0A8BC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Базовый сценарий (млн ₽)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2ABFB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4.5</c:v>
                </c:pt>
                <c:pt idx="2">
                  <c:v>6.8</c:v>
                </c:pt>
                <c:pt idx="3">
                  <c:v>9.1999999999999993</c:v>
                </c:pt>
                <c:pt idx="4">
                  <c:v>11.5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1E3A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4.8</c:v>
                </c:pt>
                <c:pt idx="1">
                  <c:v>5.6</c:v>
                </c:pt>
                <c:pt idx="2">
                  <c:v>6.3</c:v>
                </c:pt>
                <c:pt idx="3">
                  <c:v>7.1</c:v>
                </c:pt>
                <c:pt idx="4">
                  <c:v>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846680"/>
        <c:axId val="400846288"/>
      </c:barChart>
      <c:catAx>
        <c:axId val="400846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6288"/>
        <c:crosses val="autoZero"/>
        <c:auto val="1"/>
        <c:lblAlgn val="ctr"/>
        <c:lblOffset val="100"/>
        <c:noMultiLvlLbl val="1"/>
      </c:catAx>
      <c:valAx>
        <c:axId val="40084628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6680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0A8BC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23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8288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3017520"/>
            <a:ext cx="8449056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7472" y="3127248"/>
            <a:ext cx="8449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LADOGA BOAT SERVICE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47472" y="382219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центр маломерного флота · Карелия · Сортавала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7472" y="415137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Инвестиционное предложение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Рыночная возможность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абсолютно свободна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специализированный конкурент — в 170 км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38912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лодок и моторов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Сортавале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" y="1810512"/>
            <a:ext cx="987552" cy="3657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87168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578608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туристических баз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сервиса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0088" y="1810512"/>
            <a:ext cx="9875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18304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аэролодок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зимний сезон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9784" y="1810512"/>
            <a:ext cx="987552" cy="3657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специализированных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1810512"/>
            <a:ext cx="987552" cy="36576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159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у воды · Команда уже есть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· 5 направлений дохода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54864" cy="70408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Стационарный сервис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ремонт, диагностика, установка оборудования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0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 – Осень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4592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Выездной сервис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прямо в шхерах · чек 8–25 тыс. ₽ · конкурентов нет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– Октябрь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46888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468880"/>
            <a:ext cx="54864" cy="70408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и ремонт 13–15 машин · закрывает зимний провал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 – Март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91840"/>
            <a:ext cx="54864" cy="704088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Запчасти и топливо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Наценка 25–60% · дефицит у воды · постоянный доход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Круглый год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11480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11480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+ стоянка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Зимнее хранение 5–6 мес. · 3–8 тыс. ₽/мес. с единицы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 – Зима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· Базовый сценарий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47472" y="804672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70448" y="804672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70448" y="804672"/>
            <a:ext cx="45720" cy="84124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16752" y="8503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млн ₽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16752" y="1261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направлений)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70448" y="1755648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0448" y="1755648"/>
            <a:ext cx="45720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16752" y="18013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 млн ₽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16752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70448" y="2706624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70448" y="2706624"/>
            <a:ext cx="45720" cy="841248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27523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16752" y="3163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безубыточность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70448" y="365760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70448" y="3657600"/>
            <a:ext cx="45720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16752" y="3703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016752" y="4114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Инвестиций 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Инвестиционный бюджет · 13–16 млн 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Реновация объекта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млн 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Здания 525 м² · участок 1,2 га у воды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82296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212848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96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млн 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Стенды, подъёмник, компрессор, инструмент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212848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822960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Товарный склад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млн ₽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56048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направление · оборот 4× · наценка 50%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47488" y="82296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212848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Оборотный капитал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596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млн ₽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56048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ядра × 3 мес. · мастера уже есть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47488" y="2212848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602736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+ резерв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9867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 млн ₽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56048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Реклама, CRM, страховка, непредвиденное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3602736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сработает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КМ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Монополия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специализированный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в радиусе 170 км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04672"/>
            <a:ext cx="2743200" cy="457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у воды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Выездной ремонт прямо в шхерах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такого нет нигде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80467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27648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готова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мастера с 5+ лет опыта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готовы к найму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8163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81635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ГИМС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38912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Судоводитель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3767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— действующий судоводитель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8163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816352"/>
            <a:ext cx="2743200" cy="4572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мес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8328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Круглый год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3767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Аэролодки закрывают зимний провал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не останавливается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· 7 месяцев до открытия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34640"/>
            <a:ext cx="74980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688336"/>
            <a:ext cx="310896" cy="310896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810512"/>
            <a:ext cx="0" cy="877824"/>
          </a:xfrm>
          <a:prstGeom prst="line">
            <a:avLst/>
          </a:prstGeom>
          <a:noFill/>
          <a:ln w="10160">
            <a:solidFill>
              <a:srgbClr val="C9A84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НЕД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по участку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2688336"/>
            <a:ext cx="310896" cy="310896"/>
          </a:xfrm>
          <a:prstGeom prst="ellipse">
            <a:avLst/>
          </a:prstGeom>
          <a:solidFill>
            <a:srgbClr val="2ABFB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810512"/>
            <a:ext cx="0" cy="877824"/>
          </a:xfrm>
          <a:prstGeom prst="line">
            <a:avLst/>
          </a:prstGeom>
          <a:noFill/>
          <a:ln w="10160">
            <a:solidFill>
              <a:srgbClr val="2ABFB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19456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НЕД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команды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2688336"/>
            <a:ext cx="310896" cy="310896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810512"/>
            <a:ext cx="0" cy="877824"/>
          </a:xfrm>
          <a:prstGeom prst="line">
            <a:avLst/>
          </a:prstGeom>
          <a:noFill/>
          <a:ln w="10160">
            <a:solidFill>
              <a:srgbClr val="C9A84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6908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Техобследование зданий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1928" y="2688336"/>
            <a:ext cx="310896" cy="310896"/>
          </a:xfrm>
          <a:prstGeom prst="ellipse">
            <a:avLst/>
          </a:prstGeom>
          <a:solidFill>
            <a:srgbClr val="2ABFB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1810512"/>
            <a:ext cx="0" cy="877824"/>
          </a:xfrm>
          <a:prstGeom prst="line">
            <a:avLst/>
          </a:prstGeom>
          <a:noFill/>
          <a:ln w="10160">
            <a:solidFill>
              <a:srgbClr val="2ABFB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МЕС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аренды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56448" y="2688336"/>
            <a:ext cx="310896" cy="310896"/>
          </a:xfrm>
          <a:prstGeom prst="ellipse">
            <a:avLst/>
          </a:prstGeom>
          <a:solidFill>
            <a:srgbClr val="1DB87E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1810512"/>
            <a:ext cx="0" cy="877824"/>
          </a:xfrm>
          <a:prstGeom prst="line">
            <a:avLst/>
          </a:prstGeom>
          <a:noFill/>
          <a:ln w="10160">
            <a:solidFill>
              <a:srgbClr val="1DB87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81812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Реновация и открытие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71600" y="4114800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C9A84C">
              <a:alpha val="12000"/>
            </a:srgbClr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1148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к майскому лодочному сезону — максимальный спрос с первого дня работы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 первыми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19933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свободную нишу Карелии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инвестиций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2–3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плюс год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млн ₽/год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9107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сделки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формата участия — выберите подходящий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годовых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145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Ежеквартально с года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лет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986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9867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20–26 млн ₽ (тело + 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1298448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1298448"/>
            <a:ext cx="41148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ООО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64608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724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(инвестор) / 40% (основатель)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1455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Наблюдательный совет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Выкуп доли через 5 лет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3986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986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Дивиденды с года 4–5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 · P&amp;L по сценариям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47472" y="804672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577840" y="804672"/>
          <a:ext cx="3218688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47472" y="3858768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93192" y="38770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35915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0487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54787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9359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3659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8231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2531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7103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4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11403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5975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5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47472" y="4078224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93192" y="4096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(опт.)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35915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40487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54787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9359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3659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8231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92531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7103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11403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5975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47472" y="4297680"/>
            <a:ext cx="201168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93192" y="43159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35915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40487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54787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9359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3659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8231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92531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7103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11403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15975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47472" y="4517136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93192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(опт.)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35915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40487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−1,0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54787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9359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+0,6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73659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8231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+2,7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92531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97103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+5,6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711403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15975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+8,6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347472" y="4736592"/>
            <a:ext cx="201168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93192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(база)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235915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40487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−2,3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354787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59359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473659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78231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592531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97103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711403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15975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</a:t>
            </a:r>
            <a:endParaRPr lang="en-US" sz="950" dirty="0"/>
          </a:p>
        </p:txBody>
      </p:sp>
      <p:sp>
        <p:nvSpPr>
          <p:cNvPr id="68" name="Text 64"/>
          <p:cNvSpPr/>
          <p:nvPr/>
        </p:nvSpPr>
        <p:spPr>
          <a:xfrm>
            <a:off x="347472" y="4983480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Расходы год 2+ включают полный ФОТ этапа 2. Год 1 ФОТ ядра частично покрыт инвест.бюджетом.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спроса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804672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804672"/>
            <a:ext cx="54864" cy="7315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060704"/>
            <a:ext cx="219456" cy="219456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04241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89611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 аэролодок — известные клиенты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11521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аэролодок в районе лично знакомы руководителю. Устные договорённости об обслуживании получены. Это гарантированный зимний поток с первого сезона.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1645920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1645920"/>
            <a:ext cx="54864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90195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88366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17373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Туристические базы — переговоры идут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19933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Проведены первичные переговоры с 3 туристическими базами района. Две подтвердили интерес к абонентскому договору на обслуживание флота.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487168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487168"/>
            <a:ext cx="54864" cy="7315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743200"/>
            <a:ext cx="219456" cy="219456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7249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57860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подтверждён ГИМС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28346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300+ зарегистрированных судах в районе — официальная статистика ГИМС МЧС России по Сортавальскому муниципальному округу.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328416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3328416"/>
            <a:ext cx="54864" cy="73152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584448"/>
            <a:ext cx="219456" cy="219456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5661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41985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конкурент — 170 км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6758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лично: обзвон сервисных центров Карелии и картографический анализ. Специализированного сервиса нет ни в Сортавале, ни в радиусе 170 км.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914400"/>
            <a:ext cx="822960" cy="822960"/>
          </a:xfrm>
          <a:prstGeom prst="ellipse">
            <a:avLst/>
          </a:prstGeom>
          <a:solidFill>
            <a:srgbClr val="C9A84C">
              <a:alpha val="25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/ Руководитель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Действующий судоводитель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Основатель платформы Ladoga Boat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Опыт на Ладоге — знает рынок изнутри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Переговоры с арендодателем и мастерами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804672"/>
            <a:ext cx="27432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914400"/>
            <a:ext cx="822960" cy="822960"/>
          </a:xfrm>
          <a:prstGeom prst="ellipse">
            <a:avLst/>
          </a:prstGeom>
          <a:solidFill>
            <a:srgbClr val="2ABFBF">
              <a:alpha val="2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№1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мастер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5+ лет опыта ремонта лодочных моторов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Специализация: Yamaha, Mercury, Tohatsu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Работал на Ладоге — знает специфику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56432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Предварительное соглашение о найме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36208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804672"/>
            <a:ext cx="27432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914400"/>
            <a:ext cx="822960" cy="822960"/>
          </a:xfrm>
          <a:prstGeom prst="ellipse">
            <a:avLst/>
          </a:prstGeom>
          <a:solidFill>
            <a:srgbClr val="2ABFBF">
              <a:alpha val="2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36208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№2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36208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сервиса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5+ лет опыта, аэролодки и 4-такты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Специализация: Rotax, ВАЗ, сварка рам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Единственный в районе с опытом аэролодок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Предварительное соглашение о найме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митигация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3268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32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53312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аренды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2252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Реновация 5,3 млн ₽ в чужой объект — риск потери вложений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Аренда 5 лет фикс. ставка + право выкупа + зачёт вложений в договоре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9472" y="93268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32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2252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Без привлечения инвестиций проект не стартует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9472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Параллельные переговоры с 2+ инвесторами; поэтапное финансирование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267712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" y="2377440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377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53312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мастера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2670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Уход ключевого мастера останавливает сервис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Предварительные договоры; схема оклад + % от выручки как удержание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377440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377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поток в год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2670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Выручка 3–4 млн вместо 7 млн — дефицит операционного кэша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Ladoga Boat как якорный заказчик; договоры с турбазами до открытия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712464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" y="382219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53312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дефекты здания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Смета реновации вырастет сверх бюджета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" y="44622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Техобследование строительным экспертом до подписания аренды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12464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9472" y="382219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60720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Нехватка электричества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Оборудование требует мин. 50 кВт — риск отказа сетей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44622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Запрос ТУ в Карелэнерго до подписания. При отказе — дизель-генератор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0">
            <a:noFill/>
          </a:ln>
        </p:spPr>
      </p:sp>
      <p:sp>
        <p:nvSpPr>
          <p:cNvPr id="3" name="title"/>
          <p:cNvSpPr/>
          <p:nvPr/>
        </p:nvSpPr>
        <p:spPr>
          <a:xfrm>
            <a:off x="347472" y="100000"/>
            <a:ext cx="8449056" cy="4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2000" b="1" dirty="0">
                <a:solidFill>
                  <a:srgbClr val="C9A84C"/>
                </a:solidFill>
                <a:latin typeface="Calibri"/>
              </a:rPr>
              <a:t>Cash Flow · Базовый сценарий</a:t>
            </a:r>
          </a:p>
        </p:txBody>
      </p:sp>
      <p:sp>
        <p:nvSpPr>
          <p:cNvPr id="4" name="hbg"/>
          <p:cNvSpPr/>
          <p:nvPr/>
        </p:nvSpPr>
        <p:spPr>
          <a:xfrm>
            <a:off x="347472" y="575000"/>
            <a:ext cx="8449056" cy="310000"/>
          </a:xfrm>
          <a:prstGeom prst="rect">
            <a:avLst/>
          </a:prstGeom>
          <a:solidFill>
            <a:srgbClr val="1E4A7A"/>
          </a:solidFill>
          <a:ln w="0">
            <a:noFill/>
          </a:ln>
        </p:spPr>
      </p:sp>
      <p:sp>
        <p:nvSpPr>
          <p:cNvPr id="5" name="t5"/>
          <p:cNvSpPr/>
          <p:nvPr/>
        </p:nvSpPr>
        <p:spPr>
          <a:xfrm>
            <a:off x="347472" y="57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C9A84C"/>
                </a:solidFill>
                <a:latin typeface="Calibri"/>
              </a:rPr>
              <a:t/>
            </a:r>
          </a:p>
        </p:txBody>
      </p:sp>
      <p:sp>
        <p:nvSpPr>
          <p:cNvPr id="6" name="t6"/>
          <p:cNvSpPr/>
          <p:nvPr/>
        </p:nvSpPr>
        <p:spPr>
          <a:xfrm>
            <a:off x="747472" y="57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0</a:t>
            </a:r>
          </a:p>
        </p:txBody>
      </p:sp>
      <p:sp>
        <p:nvSpPr>
          <p:cNvPr id="7" name="t7"/>
          <p:cNvSpPr/>
          <p:nvPr/>
        </p:nvSpPr>
        <p:spPr>
          <a:xfrm>
            <a:off x="1947472" y="57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1</a:t>
            </a:r>
          </a:p>
        </p:txBody>
      </p:sp>
      <p:sp>
        <p:nvSpPr>
          <p:cNvPr id="8" name="t8"/>
          <p:cNvSpPr/>
          <p:nvPr/>
        </p:nvSpPr>
        <p:spPr>
          <a:xfrm>
            <a:off x="3147472" y="57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2</a:t>
            </a:r>
          </a:p>
        </p:txBody>
      </p:sp>
      <p:sp>
        <p:nvSpPr>
          <p:cNvPr id="9" name="t9"/>
          <p:cNvSpPr/>
          <p:nvPr/>
        </p:nvSpPr>
        <p:spPr>
          <a:xfrm>
            <a:off x="4347472" y="57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3</a:t>
            </a:r>
          </a:p>
        </p:txBody>
      </p:sp>
      <p:sp>
        <p:nvSpPr>
          <p:cNvPr id="10" name="t10"/>
          <p:cNvSpPr/>
          <p:nvPr/>
        </p:nvSpPr>
        <p:spPr>
          <a:xfrm>
            <a:off x="5547472" y="57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4</a:t>
            </a:r>
          </a:p>
        </p:txBody>
      </p:sp>
      <p:sp>
        <p:nvSpPr>
          <p:cNvPr id="11" name="t11"/>
          <p:cNvSpPr/>
          <p:nvPr/>
        </p:nvSpPr>
        <p:spPr>
          <a:xfrm>
            <a:off x="6747472" y="57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00" b="1" dirty="0">
                <a:solidFill>
                  <a:srgbClr val="FFFFFF"/>
                </a:solidFill>
                <a:latin typeface="Calibri"/>
              </a:rPr>
              <a:t>Год 5</a:t>
            </a:r>
          </a:p>
        </p:txBody>
      </p:sp>
      <p:sp>
        <p:nvSpPr>
          <p:cNvPr id="12" name="rb12"/>
          <p:cNvSpPr/>
          <p:nvPr/>
        </p:nvSpPr>
        <p:spPr>
          <a:xfrm>
            <a:off x="347472" y="885000"/>
            <a:ext cx="8449056" cy="3100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</p:sp>
      <p:sp>
        <p:nvSpPr>
          <p:cNvPr id="13" name="t13"/>
          <p:cNvSpPr/>
          <p:nvPr/>
        </p:nvSpPr>
        <p:spPr>
          <a:xfrm>
            <a:off x="347472" y="88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b="1" dirty="0">
                <a:solidFill>
                  <a:srgbClr val="8AB4D4"/>
                </a:solidFill>
                <a:latin typeface="Calibri"/>
              </a:rPr>
              <a:t>Транш (тыс. ₽)</a:t>
            </a:r>
          </a:p>
        </p:txBody>
      </p:sp>
      <p:sp>
        <p:nvSpPr>
          <p:cNvPr id="14" name="t14"/>
          <p:cNvSpPr/>
          <p:nvPr/>
        </p:nvSpPr>
        <p:spPr>
          <a:xfrm>
            <a:off x="747472" y="88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−13 000</a:t>
            </a:r>
          </a:p>
        </p:txBody>
      </p:sp>
      <p:sp>
        <p:nvSpPr>
          <p:cNvPr id="15" name="t15"/>
          <p:cNvSpPr/>
          <p:nvPr/>
        </p:nvSpPr>
        <p:spPr>
          <a:xfrm>
            <a:off x="1947472" y="88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5B7A99"/>
                </a:solidFill>
                <a:latin typeface="Calibri"/>
              </a:rPr>
              <a:t>—</a:t>
            </a:r>
          </a:p>
        </p:txBody>
      </p:sp>
      <p:sp>
        <p:nvSpPr>
          <p:cNvPr id="16" name="t16"/>
          <p:cNvSpPr/>
          <p:nvPr/>
        </p:nvSpPr>
        <p:spPr>
          <a:xfrm>
            <a:off x="3147472" y="88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−8 000</a:t>
            </a:r>
          </a:p>
        </p:txBody>
      </p:sp>
      <p:sp>
        <p:nvSpPr>
          <p:cNvPr id="17" name="t17"/>
          <p:cNvSpPr/>
          <p:nvPr/>
        </p:nvSpPr>
        <p:spPr>
          <a:xfrm>
            <a:off x="4347472" y="88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−5 000</a:t>
            </a:r>
          </a:p>
        </p:txBody>
      </p:sp>
      <p:sp>
        <p:nvSpPr>
          <p:cNvPr id="18" name="t18"/>
          <p:cNvSpPr/>
          <p:nvPr/>
        </p:nvSpPr>
        <p:spPr>
          <a:xfrm>
            <a:off x="5547472" y="88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5B7A99"/>
                </a:solidFill>
                <a:latin typeface="Calibri"/>
              </a:rPr>
              <a:t>—</a:t>
            </a:r>
          </a:p>
        </p:txBody>
      </p:sp>
      <p:sp>
        <p:nvSpPr>
          <p:cNvPr id="19" name="t19"/>
          <p:cNvSpPr/>
          <p:nvPr/>
        </p:nvSpPr>
        <p:spPr>
          <a:xfrm>
            <a:off x="6747472" y="88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5B7A99"/>
                </a:solidFill>
                <a:latin typeface="Calibri"/>
              </a:rPr>
              <a:t>—</a:t>
            </a:r>
          </a:p>
        </p:txBody>
      </p:sp>
      <p:sp>
        <p:nvSpPr>
          <p:cNvPr id="20" name="rb20"/>
          <p:cNvSpPr/>
          <p:nvPr/>
        </p:nvSpPr>
        <p:spPr>
          <a:xfrm>
            <a:off x="347472" y="1195000"/>
            <a:ext cx="8449056" cy="310000"/>
          </a:xfrm>
          <a:prstGeom prst="rect">
            <a:avLst/>
          </a:prstGeom>
          <a:solidFill>
            <a:srgbClr val="122947"/>
          </a:solidFill>
          <a:ln w="0">
            <a:noFill/>
          </a:ln>
        </p:spPr>
      </p:sp>
      <p:sp>
        <p:nvSpPr>
          <p:cNvPr id="21" name="t21"/>
          <p:cNvSpPr/>
          <p:nvPr/>
        </p:nvSpPr>
        <p:spPr>
          <a:xfrm>
            <a:off x="347472" y="119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b="1" dirty="0">
                <a:solidFill>
                  <a:srgbClr val="8AB4D4"/>
                </a:solidFill>
                <a:latin typeface="Calibri"/>
              </a:rPr>
              <a:t>Выручка (тыс. ₽)</a:t>
            </a:r>
          </a:p>
        </p:txBody>
      </p:sp>
      <p:sp>
        <p:nvSpPr>
          <p:cNvPr id="22" name="t22"/>
          <p:cNvSpPr/>
          <p:nvPr/>
        </p:nvSpPr>
        <p:spPr>
          <a:xfrm>
            <a:off x="747472" y="119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5B7A99"/>
                </a:solidFill>
                <a:latin typeface="Calibri"/>
              </a:rPr>
              <a:t>—</a:t>
            </a:r>
          </a:p>
        </p:txBody>
      </p:sp>
      <p:sp>
        <p:nvSpPr>
          <p:cNvPr id="23" name="t23"/>
          <p:cNvSpPr/>
          <p:nvPr/>
        </p:nvSpPr>
        <p:spPr>
          <a:xfrm>
            <a:off x="1947472" y="119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4 500</a:t>
            </a:r>
          </a:p>
        </p:txBody>
      </p:sp>
      <p:sp>
        <p:nvSpPr>
          <p:cNvPr id="24" name="t24"/>
          <p:cNvSpPr/>
          <p:nvPr/>
        </p:nvSpPr>
        <p:spPr>
          <a:xfrm>
            <a:off x="3147472" y="119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8 000</a:t>
            </a:r>
          </a:p>
        </p:txBody>
      </p:sp>
      <p:sp>
        <p:nvSpPr>
          <p:cNvPr id="25" name="t25"/>
          <p:cNvSpPr/>
          <p:nvPr/>
        </p:nvSpPr>
        <p:spPr>
          <a:xfrm>
            <a:off x="4347472" y="119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11 000</a:t>
            </a:r>
          </a:p>
        </p:txBody>
      </p:sp>
      <p:sp>
        <p:nvSpPr>
          <p:cNvPr id="26" name="t26"/>
          <p:cNvSpPr/>
          <p:nvPr/>
        </p:nvSpPr>
        <p:spPr>
          <a:xfrm>
            <a:off x="5547472" y="119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14 000</a:t>
            </a:r>
          </a:p>
        </p:txBody>
      </p:sp>
      <p:sp>
        <p:nvSpPr>
          <p:cNvPr id="27" name="t27"/>
          <p:cNvSpPr/>
          <p:nvPr/>
        </p:nvSpPr>
        <p:spPr>
          <a:xfrm>
            <a:off x="6747472" y="119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16 000</a:t>
            </a:r>
          </a:p>
        </p:txBody>
      </p:sp>
      <p:sp>
        <p:nvSpPr>
          <p:cNvPr id="28" name="rb28"/>
          <p:cNvSpPr/>
          <p:nvPr/>
        </p:nvSpPr>
        <p:spPr>
          <a:xfrm>
            <a:off x="347472" y="1505000"/>
            <a:ext cx="8449056" cy="3100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</p:sp>
      <p:sp>
        <p:nvSpPr>
          <p:cNvPr id="29" name="t29"/>
          <p:cNvSpPr/>
          <p:nvPr/>
        </p:nvSpPr>
        <p:spPr>
          <a:xfrm>
            <a:off x="347472" y="150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b="1" dirty="0">
                <a:solidFill>
                  <a:srgbClr val="8AB4D4"/>
                </a:solidFill>
                <a:latin typeface="Calibri"/>
              </a:rPr>
              <a:t>EBITDA (тыс. ₽)</a:t>
            </a:r>
          </a:p>
        </p:txBody>
      </p:sp>
      <p:sp>
        <p:nvSpPr>
          <p:cNvPr id="30" name="t30"/>
          <p:cNvSpPr/>
          <p:nvPr/>
        </p:nvSpPr>
        <p:spPr>
          <a:xfrm>
            <a:off x="747472" y="150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5B7A99"/>
                </a:solidFill>
                <a:latin typeface="Calibri"/>
              </a:rPr>
              <a:t>—</a:t>
            </a:r>
          </a:p>
        </p:txBody>
      </p:sp>
      <p:sp>
        <p:nvSpPr>
          <p:cNvPr id="31" name="t31"/>
          <p:cNvSpPr/>
          <p:nvPr/>
        </p:nvSpPr>
        <p:spPr>
          <a:xfrm>
            <a:off x="1947472" y="150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500</a:t>
            </a:r>
          </a:p>
        </p:txBody>
      </p:sp>
      <p:sp>
        <p:nvSpPr>
          <p:cNvPr id="32" name="t32"/>
          <p:cNvSpPr/>
          <p:nvPr/>
        </p:nvSpPr>
        <p:spPr>
          <a:xfrm>
            <a:off x="3147472" y="150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2 000</a:t>
            </a:r>
          </a:p>
        </p:txBody>
      </p:sp>
      <p:sp>
        <p:nvSpPr>
          <p:cNvPr id="33" name="t33"/>
          <p:cNvSpPr/>
          <p:nvPr/>
        </p:nvSpPr>
        <p:spPr>
          <a:xfrm>
            <a:off x="4347472" y="150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3 500</a:t>
            </a:r>
          </a:p>
        </p:txBody>
      </p:sp>
      <p:sp>
        <p:nvSpPr>
          <p:cNvPr id="34" name="t34"/>
          <p:cNvSpPr/>
          <p:nvPr/>
        </p:nvSpPr>
        <p:spPr>
          <a:xfrm>
            <a:off x="5547472" y="150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5 500</a:t>
            </a:r>
          </a:p>
        </p:txBody>
      </p:sp>
      <p:sp>
        <p:nvSpPr>
          <p:cNvPr id="35" name="t35"/>
          <p:cNvSpPr/>
          <p:nvPr/>
        </p:nvSpPr>
        <p:spPr>
          <a:xfrm>
            <a:off x="6747472" y="150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6 500</a:t>
            </a:r>
          </a:p>
        </p:txBody>
      </p:sp>
      <p:sp>
        <p:nvSpPr>
          <p:cNvPr id="36" name="rb36"/>
          <p:cNvSpPr/>
          <p:nvPr/>
        </p:nvSpPr>
        <p:spPr>
          <a:xfrm>
            <a:off x="347472" y="1815000"/>
            <a:ext cx="8449056" cy="310000"/>
          </a:xfrm>
          <a:prstGeom prst="rect">
            <a:avLst/>
          </a:prstGeom>
          <a:solidFill>
            <a:srgbClr val="122947"/>
          </a:solidFill>
          <a:ln w="0">
            <a:noFill/>
          </a:ln>
        </p:spPr>
      </p:sp>
      <p:sp>
        <p:nvSpPr>
          <p:cNvPr id="37" name="t37"/>
          <p:cNvSpPr/>
          <p:nvPr/>
        </p:nvSpPr>
        <p:spPr>
          <a:xfrm>
            <a:off x="347472" y="181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b="1" dirty="0">
                <a:solidFill>
                  <a:srgbClr val="8AB4D4"/>
                </a:solidFill>
                <a:latin typeface="Calibri"/>
              </a:rPr>
              <a:t>CF год (тыс. ₽)</a:t>
            </a:r>
          </a:p>
        </p:txBody>
      </p:sp>
      <p:sp>
        <p:nvSpPr>
          <p:cNvPr id="38" name="t38"/>
          <p:cNvSpPr/>
          <p:nvPr/>
        </p:nvSpPr>
        <p:spPr>
          <a:xfrm>
            <a:off x="747472" y="181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−13 000</a:t>
            </a:r>
          </a:p>
        </p:txBody>
      </p:sp>
      <p:sp>
        <p:nvSpPr>
          <p:cNvPr id="39" name="t39"/>
          <p:cNvSpPr/>
          <p:nvPr/>
        </p:nvSpPr>
        <p:spPr>
          <a:xfrm>
            <a:off x="1947472" y="181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500</a:t>
            </a:r>
          </a:p>
        </p:txBody>
      </p:sp>
      <p:sp>
        <p:nvSpPr>
          <p:cNvPr id="40" name="t40"/>
          <p:cNvSpPr/>
          <p:nvPr/>
        </p:nvSpPr>
        <p:spPr>
          <a:xfrm>
            <a:off x="3147472" y="181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−6 000</a:t>
            </a:r>
          </a:p>
        </p:txBody>
      </p:sp>
      <p:sp>
        <p:nvSpPr>
          <p:cNvPr id="41" name="t41"/>
          <p:cNvSpPr/>
          <p:nvPr/>
        </p:nvSpPr>
        <p:spPr>
          <a:xfrm>
            <a:off x="4347472" y="181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−1 500</a:t>
            </a:r>
          </a:p>
        </p:txBody>
      </p:sp>
      <p:sp>
        <p:nvSpPr>
          <p:cNvPr id="42" name="t42"/>
          <p:cNvSpPr/>
          <p:nvPr/>
        </p:nvSpPr>
        <p:spPr>
          <a:xfrm>
            <a:off x="5547472" y="181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5 500</a:t>
            </a:r>
          </a:p>
        </p:txBody>
      </p:sp>
      <p:sp>
        <p:nvSpPr>
          <p:cNvPr id="43" name="t43"/>
          <p:cNvSpPr/>
          <p:nvPr/>
        </p:nvSpPr>
        <p:spPr>
          <a:xfrm>
            <a:off x="6747472" y="181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90EE90"/>
                </a:solidFill>
                <a:latin typeface="Calibri"/>
              </a:rPr>
              <a:t>6 500</a:t>
            </a:r>
          </a:p>
        </p:txBody>
      </p:sp>
      <p:sp>
        <p:nvSpPr>
          <p:cNvPr id="44" name="rb44"/>
          <p:cNvSpPr/>
          <p:nvPr/>
        </p:nvSpPr>
        <p:spPr>
          <a:xfrm>
            <a:off x="347472" y="2125000"/>
            <a:ext cx="8449056" cy="3100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</p:sp>
      <p:sp>
        <p:nvSpPr>
          <p:cNvPr id="45" name="t45"/>
          <p:cNvSpPr/>
          <p:nvPr/>
        </p:nvSpPr>
        <p:spPr>
          <a:xfrm>
            <a:off x="347472" y="2125000"/>
            <a:ext cx="4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b="1" dirty="0">
                <a:solidFill>
                  <a:srgbClr val="8AB4D4"/>
                </a:solidFill>
                <a:latin typeface="Calibri"/>
              </a:rPr>
              <a:t>CF накопл.</a:t>
            </a:r>
          </a:p>
        </p:txBody>
      </p:sp>
      <p:sp>
        <p:nvSpPr>
          <p:cNvPr id="46" name="t46"/>
          <p:cNvSpPr/>
          <p:nvPr/>
        </p:nvSpPr>
        <p:spPr>
          <a:xfrm>
            <a:off x="747472" y="212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−13 000</a:t>
            </a:r>
          </a:p>
        </p:txBody>
      </p:sp>
      <p:sp>
        <p:nvSpPr>
          <p:cNvPr id="47" name="t47"/>
          <p:cNvSpPr/>
          <p:nvPr/>
        </p:nvSpPr>
        <p:spPr>
          <a:xfrm>
            <a:off x="1947472" y="212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−12 500</a:t>
            </a:r>
          </a:p>
        </p:txBody>
      </p:sp>
      <p:sp>
        <p:nvSpPr>
          <p:cNvPr id="48" name="t48"/>
          <p:cNvSpPr/>
          <p:nvPr/>
        </p:nvSpPr>
        <p:spPr>
          <a:xfrm>
            <a:off x="3147472" y="212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−18 500</a:t>
            </a:r>
          </a:p>
        </p:txBody>
      </p:sp>
      <p:sp>
        <p:nvSpPr>
          <p:cNvPr id="49" name="t49"/>
          <p:cNvSpPr/>
          <p:nvPr/>
        </p:nvSpPr>
        <p:spPr>
          <a:xfrm>
            <a:off x="4347472" y="212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−20 000</a:t>
            </a:r>
          </a:p>
        </p:txBody>
      </p:sp>
      <p:sp>
        <p:nvSpPr>
          <p:cNvPr id="50" name="t50"/>
          <p:cNvSpPr/>
          <p:nvPr/>
        </p:nvSpPr>
        <p:spPr>
          <a:xfrm>
            <a:off x="5547472" y="2125000"/>
            <a:ext cx="1200000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−14 500</a:t>
            </a:r>
          </a:p>
        </p:txBody>
      </p:sp>
      <p:sp>
        <p:nvSpPr>
          <p:cNvPr id="51" name="t51"/>
          <p:cNvSpPr/>
          <p:nvPr/>
        </p:nvSpPr>
        <p:spPr>
          <a:xfrm>
            <a:off x="6747472" y="2125000"/>
            <a:ext cx="139652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00" dirty="0">
                <a:solidFill>
                  <a:srgbClr val="FF8080"/>
                </a:solidFill>
                <a:latin typeface="Calibri"/>
              </a:rPr>
              <a:t>−8 000</a:t>
            </a:r>
          </a:p>
        </p:txBody>
      </p:sp>
      <p:sp>
        <p:nvSpPr>
          <p:cNvPr id="52" name="note"/>
          <p:cNvSpPr/>
          <p:nvPr/>
        </p:nvSpPr>
        <p:spPr>
          <a:xfrm>
            <a:off x="347472" y="2450000"/>
            <a:ext cx="8449056" cy="22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50" dirty="0">
                <a:solidFill>
                  <a:srgbClr val="8AB4D4"/>
                </a:solidFill>
                <a:latin typeface="Calibri"/>
              </a:rPr>
              <a:t>* Exit Год 5: продажа бизнеса 3× выручка = 48 000 тыс. ₽ (не включён в CF)</a:t>
            </a:r>
          </a:p>
        </p:txBody>
      </p:sp>
      <p:sp>
        <p:nvSpPr>
          <p:cNvPr id="53" name="cb53"/>
          <p:cNvSpPr/>
          <p:nvPr/>
        </p:nvSpPr>
        <p:spPr>
          <a:xfrm>
            <a:off x="347472" y="2695000"/>
            <a:ext cx="2600000" cy="580000"/>
          </a:xfrm>
          <a:prstGeom prst="rect">
            <a:avLst/>
          </a:prstGeom>
          <a:solidFill>
            <a:srgbClr val="1A6B3A"/>
          </a:solidFill>
          <a:ln w="0">
            <a:noFill/>
          </a:ln>
        </p:spPr>
      </p:sp>
      <p:sp>
        <p:nvSpPr>
          <p:cNvPr id="54" name="ca54"/>
          <p:cNvSpPr/>
          <p:nvPr/>
        </p:nvSpPr>
        <p:spPr>
          <a:xfrm>
            <a:off x="347472" y="2695000"/>
            <a:ext cx="18288" cy="580000"/>
          </a:xfrm>
          <a:prstGeom prst="rect">
            <a:avLst/>
          </a:prstGeom>
          <a:solidFill>
            <a:srgbClr val="4ADE80"/>
          </a:solidFill>
          <a:ln w="0">
            <a:noFill/>
          </a:ln>
        </p:spPr>
      </p:sp>
      <p:sp>
        <p:nvSpPr>
          <p:cNvPr id="55" name="t55"/>
          <p:cNvSpPr/>
          <p:nvPr/>
        </p:nvSpPr>
        <p:spPr>
          <a:xfrm>
            <a:off x="402336" y="2745000"/>
            <a:ext cx="2526848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IRR</a:t>
            </a:r>
          </a:p>
        </p:txBody>
      </p:sp>
      <p:sp>
        <p:nvSpPr>
          <p:cNvPr id="56" name="t56"/>
          <p:cNvSpPr/>
          <p:nvPr/>
        </p:nvSpPr>
        <p:spPr>
          <a:xfrm>
            <a:off x="402336" y="2905000"/>
            <a:ext cx="2526848" cy="24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800" b="1" dirty="0">
                <a:solidFill>
                  <a:srgbClr val="4ADE80"/>
                </a:solidFill>
                <a:latin typeface="Calibri"/>
              </a:rPr>
              <a:t>~17%</a:t>
            </a:r>
          </a:p>
        </p:txBody>
      </p:sp>
      <p:sp>
        <p:nvSpPr>
          <p:cNvPr id="57" name="t57"/>
          <p:cNvSpPr/>
          <p:nvPr/>
        </p:nvSpPr>
        <p:spPr>
          <a:xfrm>
            <a:off x="402336" y="3125000"/>
            <a:ext cx="2526848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50" dirty="0">
                <a:solidFill>
                  <a:srgbClr val="607890"/>
                </a:solidFill>
                <a:latin typeface="Calibri"/>
              </a:rPr>
              <a:t>с учётом Exit Год 5</a:t>
            </a:r>
          </a:p>
        </p:txBody>
      </p:sp>
      <p:sp>
        <p:nvSpPr>
          <p:cNvPr id="58" name="cb58"/>
          <p:cNvSpPr/>
          <p:nvPr/>
        </p:nvSpPr>
        <p:spPr>
          <a:xfrm>
            <a:off x="3105008" y="2695000"/>
            <a:ext cx="2600000" cy="580000"/>
          </a:xfrm>
          <a:prstGeom prst="rect">
            <a:avLst/>
          </a:prstGeom>
          <a:solidFill>
            <a:srgbClr val="1A4B6B"/>
          </a:solidFill>
          <a:ln w="0">
            <a:noFill/>
          </a:ln>
        </p:spPr>
      </p:sp>
      <p:sp>
        <p:nvSpPr>
          <p:cNvPr id="59" name="ca59"/>
          <p:cNvSpPr/>
          <p:nvPr/>
        </p:nvSpPr>
        <p:spPr>
          <a:xfrm>
            <a:off x="3105008" y="2695000"/>
            <a:ext cx="18288" cy="580000"/>
          </a:xfrm>
          <a:prstGeom prst="rect">
            <a:avLst/>
          </a:prstGeom>
          <a:solidFill>
            <a:srgbClr val="60B4FF"/>
          </a:solidFill>
          <a:ln w="0">
            <a:noFill/>
          </a:ln>
        </p:spPr>
      </p:sp>
      <p:sp>
        <p:nvSpPr>
          <p:cNvPr id="60" name="t60"/>
          <p:cNvSpPr/>
          <p:nvPr/>
        </p:nvSpPr>
        <p:spPr>
          <a:xfrm>
            <a:off x="3159872" y="2745000"/>
            <a:ext cx="2526848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NPV @ 15%</a:t>
            </a:r>
          </a:p>
        </p:txBody>
      </p:sp>
      <p:sp>
        <p:nvSpPr>
          <p:cNvPr id="61" name="t61"/>
          <p:cNvSpPr/>
          <p:nvPr/>
        </p:nvSpPr>
        <p:spPr>
          <a:xfrm>
            <a:off x="3159872" y="2905000"/>
            <a:ext cx="2526848" cy="24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800" b="1" dirty="0">
                <a:solidFill>
                  <a:srgbClr val="60B4FF"/>
                </a:solidFill>
                <a:latin typeface="Calibri"/>
              </a:rPr>
              <a:t>+1 775 тыс. ₽</a:t>
            </a:r>
          </a:p>
        </p:txBody>
      </p:sp>
      <p:sp>
        <p:nvSpPr>
          <p:cNvPr id="62" name="t62"/>
          <p:cNvSpPr/>
          <p:nvPr/>
        </p:nvSpPr>
        <p:spPr>
          <a:xfrm>
            <a:off x="3159872" y="3125000"/>
            <a:ext cx="2526848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50" dirty="0">
                <a:solidFill>
                  <a:srgbClr val="607890"/>
                </a:solidFill>
                <a:latin typeface="Calibri"/>
              </a:rPr>
              <a:t>ставка дисконтирования 15%</a:t>
            </a:r>
          </a:p>
        </p:txBody>
      </p:sp>
      <p:sp>
        <p:nvSpPr>
          <p:cNvPr id="63" name="cb63"/>
          <p:cNvSpPr/>
          <p:nvPr/>
        </p:nvSpPr>
        <p:spPr>
          <a:xfrm>
            <a:off x="5862544" y="2695000"/>
            <a:ext cx="2600000" cy="580000"/>
          </a:xfrm>
          <a:prstGeom prst="rect">
            <a:avLst/>
          </a:prstGeom>
          <a:solidFill>
            <a:srgbClr val="5C3A0A"/>
          </a:solidFill>
          <a:ln w="0">
            <a:noFill/>
          </a:ln>
        </p:spPr>
      </p:sp>
      <p:sp>
        <p:nvSpPr>
          <p:cNvPr id="64" name="ca64"/>
          <p:cNvSpPr/>
          <p:nvPr/>
        </p:nvSpPr>
        <p:spPr>
          <a:xfrm>
            <a:off x="5862544" y="2695000"/>
            <a:ext cx="18288" cy="58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65" name="t65"/>
          <p:cNvSpPr/>
          <p:nvPr/>
        </p:nvSpPr>
        <p:spPr>
          <a:xfrm>
            <a:off x="5917408" y="2745000"/>
            <a:ext cx="2526848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Срок окупаемости</a:t>
            </a:r>
          </a:p>
        </p:txBody>
      </p:sp>
      <p:sp>
        <p:nvSpPr>
          <p:cNvPr id="66" name="t66"/>
          <p:cNvSpPr/>
          <p:nvPr/>
        </p:nvSpPr>
        <p:spPr>
          <a:xfrm>
            <a:off x="5917408" y="2905000"/>
            <a:ext cx="2526848" cy="24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800" b="1" dirty="0">
                <a:solidFill>
                  <a:srgbClr val="F59E0B"/>
                </a:solidFill>
                <a:latin typeface="Calibri"/>
              </a:rPr>
              <a:t>Год 5</a:t>
            </a:r>
          </a:p>
        </p:txBody>
      </p:sp>
      <p:sp>
        <p:nvSpPr>
          <p:cNvPr id="67" name="t67"/>
          <p:cNvSpPr/>
          <p:nvPr/>
        </p:nvSpPr>
        <p:spPr>
          <a:xfrm>
            <a:off x="5917408" y="3125000"/>
            <a:ext cx="2526848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50" dirty="0">
                <a:solidFill>
                  <a:srgbClr val="607890"/>
                </a:solidFill>
                <a:latin typeface="Calibri"/>
              </a:rPr>
              <a:t>через exit-сделку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0">
            <a:noFill/>
          </a:ln>
        </p:spPr>
      </p:sp>
      <p:sp>
        <p:nvSpPr>
          <p:cNvPr id="3" name="title"/>
          <p:cNvSpPr/>
          <p:nvPr/>
        </p:nvSpPr>
        <p:spPr>
          <a:xfrm>
            <a:off x="347472" y="100000"/>
            <a:ext cx="8449056" cy="4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2000" b="1" dirty="0">
                <a:solidFill>
                  <a:srgbClr val="C9A84C"/>
                </a:solidFill>
                <a:latin typeface="Calibri"/>
              </a:rPr>
              <a:t>Для инвестора · Exit &amp; График выплат</a:t>
            </a:r>
          </a:p>
        </p:txBody>
      </p:sp>
      <p:sp>
        <p:nvSpPr>
          <p:cNvPr id="4" name="lh"/>
          <p:cNvSpPr/>
          <p:nvPr/>
        </p:nvSpPr>
        <p:spPr>
          <a:xfrm>
            <a:off x="347472" y="600000"/>
            <a:ext cx="3900000" cy="2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200" b="1" dirty="0">
                <a:solidFill>
                  <a:srgbClr val="C9A84C"/>
                </a:solidFill>
                <a:latin typeface="Calibri"/>
              </a:rPr>
              <a:t>График взносов</a:t>
            </a:r>
          </a:p>
        </p:txBody>
      </p:sp>
      <p:sp>
        <p:nvSpPr>
          <p:cNvPr id="5" name="tr5"/>
          <p:cNvSpPr/>
          <p:nvPr/>
        </p:nvSpPr>
        <p:spPr>
          <a:xfrm>
            <a:off x="347472" y="880000"/>
            <a:ext cx="3900000" cy="530000"/>
          </a:xfrm>
          <a:prstGeom prst="rect">
            <a:avLst/>
          </a:prstGeom>
          <a:solidFill>
            <a:srgbClr val="1C3D28"/>
          </a:solidFill>
          <a:ln w="0">
            <a:noFill/>
          </a:ln>
        </p:spPr>
      </p:sp>
      <p:sp>
        <p:nvSpPr>
          <p:cNvPr id="6" name="ta6"/>
          <p:cNvSpPr/>
          <p:nvPr/>
        </p:nvSpPr>
        <p:spPr>
          <a:xfrm>
            <a:off x="347472" y="880000"/>
            <a:ext cx="18288" cy="530000"/>
          </a:xfrm>
          <a:prstGeom prst="rect">
            <a:avLst/>
          </a:prstGeom>
          <a:solidFill>
            <a:srgbClr val="C9A84C"/>
          </a:solidFill>
          <a:ln w="0">
            <a:noFill/>
          </a:ln>
        </p:spPr>
      </p:sp>
      <p:sp>
        <p:nvSpPr>
          <p:cNvPr id="7" name="t7"/>
          <p:cNvSpPr/>
          <p:nvPr/>
        </p:nvSpPr>
        <p:spPr>
          <a:xfrm>
            <a:off x="384048" y="880000"/>
            <a:ext cx="320000" cy="5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50" b="1" dirty="0">
                <a:solidFill>
                  <a:srgbClr val="C9A84C"/>
                </a:solidFill>
                <a:latin typeface="Calibri"/>
              </a:rPr>
              <a:t>Год 0</a:t>
            </a:r>
          </a:p>
        </p:txBody>
      </p:sp>
      <p:sp>
        <p:nvSpPr>
          <p:cNvPr id="8" name="t8"/>
          <p:cNvSpPr/>
          <p:nvPr/>
        </p:nvSpPr>
        <p:spPr>
          <a:xfrm>
            <a:off x="717472" y="910000"/>
            <a:ext cx="3510000" cy="19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b="1" dirty="0">
                <a:solidFill>
                  <a:srgbClr val="D0D8E8"/>
                </a:solidFill>
                <a:latin typeface="Calibri"/>
              </a:rPr>
              <a:t>Транш 1</a:t>
            </a:r>
          </a:p>
        </p:txBody>
      </p:sp>
      <p:sp>
        <p:nvSpPr>
          <p:cNvPr id="9" name="t9"/>
          <p:cNvSpPr/>
          <p:nvPr/>
        </p:nvSpPr>
        <p:spPr>
          <a:xfrm>
            <a:off x="717472" y="1080000"/>
            <a:ext cx="3510000" cy="22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350" b="1" dirty="0">
                <a:solidFill>
                  <a:srgbClr val="C9A84C"/>
                </a:solidFill>
                <a:latin typeface="Calibri"/>
              </a:rPr>
              <a:t>13 000 тыс. ₽</a:t>
            </a:r>
          </a:p>
        </p:txBody>
      </p:sp>
      <p:sp>
        <p:nvSpPr>
          <p:cNvPr id="10" name="t10"/>
          <p:cNvSpPr/>
          <p:nvPr/>
        </p:nvSpPr>
        <p:spPr>
          <a:xfrm>
            <a:off x="717472" y="1280000"/>
            <a:ext cx="3510000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Запуск — флот, инфраструктура</a:t>
            </a:r>
          </a:p>
        </p:txBody>
      </p:sp>
      <p:sp>
        <p:nvSpPr>
          <p:cNvPr id="11" name="tr11"/>
          <p:cNvSpPr/>
          <p:nvPr/>
        </p:nvSpPr>
        <p:spPr>
          <a:xfrm>
            <a:off x="347472" y="1460000"/>
            <a:ext cx="3900000" cy="530000"/>
          </a:xfrm>
          <a:prstGeom prst="rect">
            <a:avLst/>
          </a:prstGeom>
          <a:solidFill>
            <a:srgbClr val="0D2E1A"/>
          </a:solidFill>
          <a:ln w="0">
            <a:noFill/>
          </a:ln>
        </p:spPr>
      </p:sp>
      <p:sp>
        <p:nvSpPr>
          <p:cNvPr id="12" name="ta12"/>
          <p:cNvSpPr/>
          <p:nvPr/>
        </p:nvSpPr>
        <p:spPr>
          <a:xfrm>
            <a:off x="347472" y="1460000"/>
            <a:ext cx="18288" cy="530000"/>
          </a:xfrm>
          <a:prstGeom prst="rect">
            <a:avLst/>
          </a:prstGeom>
          <a:solidFill>
            <a:srgbClr val="4ADE80"/>
          </a:solidFill>
          <a:ln w="0">
            <a:noFill/>
          </a:ln>
        </p:spPr>
      </p:sp>
      <p:sp>
        <p:nvSpPr>
          <p:cNvPr id="13" name="t13"/>
          <p:cNvSpPr/>
          <p:nvPr/>
        </p:nvSpPr>
        <p:spPr>
          <a:xfrm>
            <a:off x="384048" y="1460000"/>
            <a:ext cx="320000" cy="5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50" b="1" dirty="0">
                <a:solidFill>
                  <a:srgbClr val="4ADE80"/>
                </a:solidFill>
                <a:latin typeface="Calibri"/>
              </a:rPr>
              <a:t>Год 2</a:t>
            </a:r>
          </a:p>
        </p:txBody>
      </p:sp>
      <p:sp>
        <p:nvSpPr>
          <p:cNvPr id="14" name="t14"/>
          <p:cNvSpPr/>
          <p:nvPr/>
        </p:nvSpPr>
        <p:spPr>
          <a:xfrm>
            <a:off x="717472" y="1490000"/>
            <a:ext cx="3510000" cy="19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b="1" dirty="0">
                <a:solidFill>
                  <a:srgbClr val="D0D8E8"/>
                </a:solidFill>
                <a:latin typeface="Calibri"/>
              </a:rPr>
              <a:t>Транш 2</a:t>
            </a:r>
          </a:p>
        </p:txBody>
      </p:sp>
      <p:sp>
        <p:nvSpPr>
          <p:cNvPr id="15" name="t15"/>
          <p:cNvSpPr/>
          <p:nvPr/>
        </p:nvSpPr>
        <p:spPr>
          <a:xfrm>
            <a:off x="717472" y="1660000"/>
            <a:ext cx="3510000" cy="22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350" b="1" dirty="0">
                <a:solidFill>
                  <a:srgbClr val="4ADE80"/>
                </a:solidFill>
                <a:latin typeface="Calibri"/>
              </a:rPr>
              <a:t>8 000 тыс. ₽</a:t>
            </a:r>
          </a:p>
        </p:txBody>
      </p:sp>
      <p:sp>
        <p:nvSpPr>
          <p:cNvPr id="16" name="t16"/>
          <p:cNvSpPr/>
          <p:nvPr/>
        </p:nvSpPr>
        <p:spPr>
          <a:xfrm>
            <a:off x="717472" y="1860000"/>
            <a:ext cx="3510000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Расширение парка и сервиса</a:t>
            </a:r>
          </a:p>
        </p:txBody>
      </p:sp>
      <p:sp>
        <p:nvSpPr>
          <p:cNvPr id="17" name="tr17"/>
          <p:cNvSpPr/>
          <p:nvPr/>
        </p:nvSpPr>
        <p:spPr>
          <a:xfrm>
            <a:off x="347472" y="2040000"/>
            <a:ext cx="3900000" cy="530000"/>
          </a:xfrm>
          <a:prstGeom prst="rect">
            <a:avLst/>
          </a:prstGeom>
          <a:solidFill>
            <a:srgbClr val="0D1E35"/>
          </a:solidFill>
          <a:ln w="0">
            <a:noFill/>
          </a:ln>
        </p:spPr>
      </p:sp>
      <p:sp>
        <p:nvSpPr>
          <p:cNvPr id="18" name="ta18"/>
          <p:cNvSpPr/>
          <p:nvPr/>
        </p:nvSpPr>
        <p:spPr>
          <a:xfrm>
            <a:off x="347472" y="2040000"/>
            <a:ext cx="18288" cy="530000"/>
          </a:xfrm>
          <a:prstGeom prst="rect">
            <a:avLst/>
          </a:prstGeom>
          <a:solidFill>
            <a:srgbClr val="60B4FF"/>
          </a:solidFill>
          <a:ln w="0">
            <a:noFill/>
          </a:ln>
        </p:spPr>
      </p:sp>
      <p:sp>
        <p:nvSpPr>
          <p:cNvPr id="19" name="t19"/>
          <p:cNvSpPr/>
          <p:nvPr/>
        </p:nvSpPr>
        <p:spPr>
          <a:xfrm>
            <a:off x="384048" y="2040000"/>
            <a:ext cx="320000" cy="5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50" b="1" dirty="0">
                <a:solidFill>
                  <a:srgbClr val="60B4FF"/>
                </a:solidFill>
                <a:latin typeface="Calibri"/>
              </a:rPr>
              <a:t>Год 3</a:t>
            </a:r>
          </a:p>
        </p:txBody>
      </p:sp>
      <p:sp>
        <p:nvSpPr>
          <p:cNvPr id="20" name="t20"/>
          <p:cNvSpPr/>
          <p:nvPr/>
        </p:nvSpPr>
        <p:spPr>
          <a:xfrm>
            <a:off x="717472" y="2070000"/>
            <a:ext cx="3510000" cy="19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b="1" dirty="0">
                <a:solidFill>
                  <a:srgbClr val="D0D8E8"/>
                </a:solidFill>
                <a:latin typeface="Calibri"/>
              </a:rPr>
              <a:t>Транш 3</a:t>
            </a:r>
          </a:p>
        </p:txBody>
      </p:sp>
      <p:sp>
        <p:nvSpPr>
          <p:cNvPr id="21" name="t21"/>
          <p:cNvSpPr/>
          <p:nvPr/>
        </p:nvSpPr>
        <p:spPr>
          <a:xfrm>
            <a:off x="717472" y="2240000"/>
            <a:ext cx="3510000" cy="22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350" b="1" dirty="0">
                <a:solidFill>
                  <a:srgbClr val="60B4FF"/>
                </a:solidFill>
                <a:latin typeface="Calibri"/>
              </a:rPr>
              <a:t>5 000 тыс. ₽</a:t>
            </a:r>
          </a:p>
        </p:txBody>
      </p:sp>
      <p:sp>
        <p:nvSpPr>
          <p:cNvPr id="22" name="t22"/>
          <p:cNvSpPr/>
          <p:nvPr/>
        </p:nvSpPr>
        <p:spPr>
          <a:xfrm>
            <a:off x="717472" y="2440000"/>
            <a:ext cx="3510000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Масштабирование, маркетинг</a:t>
            </a:r>
          </a:p>
        </p:txBody>
      </p:sp>
      <p:sp>
        <p:nvSpPr>
          <p:cNvPr id="23" name="tr23"/>
          <p:cNvSpPr/>
          <p:nvPr/>
        </p:nvSpPr>
        <p:spPr>
          <a:xfrm>
            <a:off x="347472" y="2620000"/>
            <a:ext cx="3900000" cy="530000"/>
          </a:xfrm>
          <a:prstGeom prst="rect">
            <a:avLst/>
          </a:prstGeom>
          <a:solidFill>
            <a:srgbClr val="2A1E08"/>
          </a:solidFill>
          <a:ln w="0">
            <a:noFill/>
          </a:ln>
        </p:spPr>
      </p:sp>
      <p:sp>
        <p:nvSpPr>
          <p:cNvPr id="24" name="ta24"/>
          <p:cNvSpPr/>
          <p:nvPr/>
        </p:nvSpPr>
        <p:spPr>
          <a:xfrm>
            <a:off x="347472" y="2620000"/>
            <a:ext cx="18288" cy="53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25" name="t25"/>
          <p:cNvSpPr/>
          <p:nvPr/>
        </p:nvSpPr>
        <p:spPr>
          <a:xfrm>
            <a:off x="384048" y="2620000"/>
            <a:ext cx="320000" cy="5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1050" b="1" dirty="0">
                <a:solidFill>
                  <a:srgbClr val="F59E0B"/>
                </a:solidFill>
                <a:latin typeface="Calibri"/>
              </a:rPr>
              <a:t>Год 5</a:t>
            </a:r>
          </a:p>
        </p:txBody>
      </p:sp>
      <p:sp>
        <p:nvSpPr>
          <p:cNvPr id="26" name="t26"/>
          <p:cNvSpPr/>
          <p:nvPr/>
        </p:nvSpPr>
        <p:spPr>
          <a:xfrm>
            <a:off x="717472" y="2650000"/>
            <a:ext cx="3510000" cy="19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b="1" dirty="0">
                <a:solidFill>
                  <a:srgbClr val="D0D8E8"/>
                </a:solidFill>
                <a:latin typeface="Calibri"/>
              </a:rPr>
              <a:t>Exit ↑</a:t>
            </a:r>
          </a:p>
        </p:txBody>
      </p:sp>
      <p:sp>
        <p:nvSpPr>
          <p:cNvPr id="27" name="t27"/>
          <p:cNvSpPr/>
          <p:nvPr/>
        </p:nvSpPr>
        <p:spPr>
          <a:xfrm>
            <a:off x="717472" y="2820000"/>
            <a:ext cx="3510000" cy="22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350" b="1" dirty="0">
                <a:solidFill>
                  <a:srgbClr val="F59E0B"/>
                </a:solidFill>
                <a:latin typeface="Calibri"/>
              </a:rPr>
              <a:t>≥ 48 000 тыс. ₽</a:t>
            </a:r>
          </a:p>
        </p:txBody>
      </p:sp>
      <p:sp>
        <p:nvSpPr>
          <p:cNvPr id="28" name="t28"/>
          <p:cNvSpPr/>
          <p:nvPr/>
        </p:nvSpPr>
        <p:spPr>
          <a:xfrm>
            <a:off x="717472" y="3020000"/>
            <a:ext cx="3510000" cy="16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Продажа 3× выручка → возврат</a:t>
            </a:r>
          </a:p>
        </p:txBody>
      </p:sp>
      <p:sp>
        <p:nvSpPr>
          <p:cNvPr id="29" name="totbg"/>
          <p:cNvSpPr/>
          <p:nvPr/>
        </p:nvSpPr>
        <p:spPr>
          <a:xfrm>
            <a:off x="347472" y="3200000"/>
            <a:ext cx="3900000" cy="300000"/>
          </a:xfrm>
          <a:prstGeom prst="rect">
            <a:avLst/>
          </a:prstGeom>
          <a:solidFill>
            <a:srgbClr val="0D3050"/>
          </a:solidFill>
          <a:ln w="0">
            <a:noFill/>
          </a:ln>
        </p:spPr>
      </p:sp>
      <p:sp>
        <p:nvSpPr>
          <p:cNvPr id="30" name="tot"/>
          <p:cNvSpPr/>
          <p:nvPr/>
        </p:nvSpPr>
        <p:spPr>
          <a:xfrm>
            <a:off x="365760" y="3200000"/>
            <a:ext cx="3863424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"/>
            <a:r>
              <a:rPr lang="ru-RU" sz="950" b="1" dirty="0">
                <a:solidFill>
                  <a:srgbClr val="C9A84C"/>
                </a:solidFill>
                <a:latin typeface="Calibri"/>
              </a:rPr>
              <a:t>Вложено: 26 000 · Возврат Год 5: ≥ 48 000 тыс. ₽</a:t>
            </a:r>
          </a:p>
        </p:txBody>
      </p:sp>
      <p:sp>
        <p:nvSpPr>
          <p:cNvPr id="31" name="rh"/>
          <p:cNvSpPr/>
          <p:nvPr/>
        </p:nvSpPr>
        <p:spPr>
          <a:xfrm>
            <a:off x="4550000" y="600000"/>
            <a:ext cx="4246528" cy="2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200" b="1" dirty="0">
                <a:solidFill>
                  <a:srgbClr val="C9A84C"/>
                </a:solidFill>
                <a:latin typeface="Calibri"/>
              </a:rPr>
              <a:t>Оценка Exit (Год 5)</a:t>
            </a:r>
          </a:p>
        </p:txBody>
      </p:sp>
      <p:sp>
        <p:nvSpPr>
          <p:cNvPr id="32" name="ec32"/>
          <p:cNvSpPr/>
          <p:nvPr/>
        </p:nvSpPr>
        <p:spPr>
          <a:xfrm>
            <a:off x="4550000" y="880000"/>
            <a:ext cx="4246528" cy="460000"/>
          </a:xfrm>
          <a:prstGeom prst="rect">
            <a:avLst/>
          </a:prstGeom>
          <a:solidFill>
            <a:srgbClr val="1E4A7A"/>
          </a:solidFill>
          <a:ln w="0">
            <a:noFill/>
          </a:ln>
        </p:spPr>
      </p:sp>
      <p:sp>
        <p:nvSpPr>
          <p:cNvPr id="33" name="ea33"/>
          <p:cNvSpPr/>
          <p:nvPr/>
        </p:nvSpPr>
        <p:spPr>
          <a:xfrm>
            <a:off x="4550000" y="880000"/>
            <a:ext cx="18288" cy="460000"/>
          </a:xfrm>
          <a:prstGeom prst="rect">
            <a:avLst/>
          </a:prstGeom>
          <a:solidFill>
            <a:srgbClr val="60B4FF"/>
          </a:solidFill>
          <a:ln w="0">
            <a:noFill/>
          </a:ln>
        </p:spPr>
      </p:sp>
      <p:sp>
        <p:nvSpPr>
          <p:cNvPr id="34" name="t34"/>
          <p:cNvSpPr/>
          <p:nvPr/>
        </p:nvSpPr>
        <p:spPr>
          <a:xfrm>
            <a:off x="4604864" y="915000"/>
            <a:ext cx="4173376" cy="1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Выручка Год 5</a:t>
            </a:r>
          </a:p>
        </p:txBody>
      </p:sp>
      <p:sp>
        <p:nvSpPr>
          <p:cNvPr id="35" name="t35"/>
          <p:cNvSpPr/>
          <p:nvPr/>
        </p:nvSpPr>
        <p:spPr>
          <a:xfrm>
            <a:off x="4604864" y="1050000"/>
            <a:ext cx="4173376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500" b="1" dirty="0">
                <a:solidFill>
                  <a:srgbClr val="60B4FF"/>
                </a:solidFill>
                <a:latin typeface="Calibri"/>
              </a:rPr>
              <a:t>16 000 тыс. ₽</a:t>
            </a:r>
          </a:p>
        </p:txBody>
      </p:sp>
      <p:sp>
        <p:nvSpPr>
          <p:cNvPr id="36" name="t36"/>
          <p:cNvSpPr/>
          <p:nvPr/>
        </p:nvSpPr>
        <p:spPr>
          <a:xfrm>
            <a:off x="4604864" y="1240000"/>
            <a:ext cx="4173376" cy="1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базовый сценарий</a:t>
            </a:r>
          </a:p>
        </p:txBody>
      </p:sp>
      <p:sp>
        <p:nvSpPr>
          <p:cNvPr id="37" name="ec37"/>
          <p:cNvSpPr/>
          <p:nvPr/>
        </p:nvSpPr>
        <p:spPr>
          <a:xfrm>
            <a:off x="4550000" y="1400000"/>
            <a:ext cx="4246528" cy="460000"/>
          </a:xfrm>
          <a:prstGeom prst="rect">
            <a:avLst/>
          </a:prstGeom>
          <a:solidFill>
            <a:srgbClr val="1A4B2A"/>
          </a:solidFill>
          <a:ln w="0">
            <a:noFill/>
          </a:ln>
        </p:spPr>
      </p:sp>
      <p:sp>
        <p:nvSpPr>
          <p:cNvPr id="38" name="ea38"/>
          <p:cNvSpPr/>
          <p:nvPr/>
        </p:nvSpPr>
        <p:spPr>
          <a:xfrm>
            <a:off x="4550000" y="1400000"/>
            <a:ext cx="18288" cy="460000"/>
          </a:xfrm>
          <a:prstGeom prst="rect">
            <a:avLst/>
          </a:prstGeom>
          <a:solidFill>
            <a:srgbClr val="4ADE80"/>
          </a:solidFill>
          <a:ln w="0">
            <a:noFill/>
          </a:ln>
        </p:spPr>
      </p:sp>
      <p:sp>
        <p:nvSpPr>
          <p:cNvPr id="39" name="t39"/>
          <p:cNvSpPr/>
          <p:nvPr/>
        </p:nvSpPr>
        <p:spPr>
          <a:xfrm>
            <a:off x="4604864" y="1435000"/>
            <a:ext cx="4173376" cy="1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Мультипликатор</a:t>
            </a:r>
          </a:p>
        </p:txBody>
      </p:sp>
      <p:sp>
        <p:nvSpPr>
          <p:cNvPr id="40" name="t40"/>
          <p:cNvSpPr/>
          <p:nvPr/>
        </p:nvSpPr>
        <p:spPr>
          <a:xfrm>
            <a:off x="4604864" y="1570000"/>
            <a:ext cx="4173376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500" b="1" dirty="0">
                <a:solidFill>
                  <a:srgbClr val="4ADE80"/>
                </a:solidFill>
                <a:latin typeface="Calibri"/>
              </a:rPr>
              <a:t>3× Revenue</a:t>
            </a:r>
          </a:p>
        </p:txBody>
      </p:sp>
      <p:sp>
        <p:nvSpPr>
          <p:cNvPr id="41" name="t41"/>
          <p:cNvSpPr/>
          <p:nvPr/>
        </p:nvSpPr>
        <p:spPr>
          <a:xfrm>
            <a:off x="4604864" y="1760000"/>
            <a:ext cx="4173376" cy="1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сервисные компании РФ</a:t>
            </a:r>
          </a:p>
        </p:txBody>
      </p:sp>
      <p:sp>
        <p:nvSpPr>
          <p:cNvPr id="42" name="ec42"/>
          <p:cNvSpPr/>
          <p:nvPr/>
        </p:nvSpPr>
        <p:spPr>
          <a:xfrm>
            <a:off x="4550000" y="1920000"/>
            <a:ext cx="4246528" cy="460000"/>
          </a:xfrm>
          <a:prstGeom prst="rect">
            <a:avLst/>
          </a:prstGeom>
          <a:solidFill>
            <a:srgbClr val="3A1A0A"/>
          </a:solidFill>
          <a:ln w="0">
            <a:noFill/>
          </a:ln>
        </p:spPr>
      </p:sp>
      <p:sp>
        <p:nvSpPr>
          <p:cNvPr id="43" name="ea43"/>
          <p:cNvSpPr/>
          <p:nvPr/>
        </p:nvSpPr>
        <p:spPr>
          <a:xfrm>
            <a:off x="4550000" y="1920000"/>
            <a:ext cx="18288" cy="46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44" name="t44"/>
          <p:cNvSpPr/>
          <p:nvPr/>
        </p:nvSpPr>
        <p:spPr>
          <a:xfrm>
            <a:off x="4604864" y="1955000"/>
            <a:ext cx="4173376" cy="1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Оценка компании</a:t>
            </a:r>
          </a:p>
        </p:txBody>
      </p:sp>
      <p:sp>
        <p:nvSpPr>
          <p:cNvPr id="45" name="t45"/>
          <p:cNvSpPr/>
          <p:nvPr/>
        </p:nvSpPr>
        <p:spPr>
          <a:xfrm>
            <a:off x="4604864" y="2090000"/>
            <a:ext cx="4173376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500" b="1" dirty="0">
                <a:solidFill>
                  <a:srgbClr val="F59E0B"/>
                </a:solidFill>
                <a:latin typeface="Calibri"/>
              </a:rPr>
              <a:t>48 000 тыс. ₽</a:t>
            </a:r>
          </a:p>
        </p:txBody>
      </p:sp>
      <p:sp>
        <p:nvSpPr>
          <p:cNvPr id="46" name="t46"/>
          <p:cNvSpPr/>
          <p:nvPr/>
        </p:nvSpPr>
        <p:spPr>
          <a:xfrm>
            <a:off x="4604864" y="2280000"/>
            <a:ext cx="4173376" cy="1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ориентир цены продажи</a:t>
            </a:r>
          </a:p>
        </p:txBody>
      </p:sp>
      <p:sp>
        <p:nvSpPr>
          <p:cNvPr id="47" name="ec47"/>
          <p:cNvSpPr/>
          <p:nvPr/>
        </p:nvSpPr>
        <p:spPr>
          <a:xfrm>
            <a:off x="4550000" y="2440000"/>
            <a:ext cx="4246528" cy="460000"/>
          </a:xfrm>
          <a:prstGeom prst="rect">
            <a:avLst/>
          </a:prstGeom>
          <a:solidFill>
            <a:srgbClr val="2A1A4B"/>
          </a:solidFill>
          <a:ln w="0">
            <a:noFill/>
          </a:ln>
        </p:spPr>
      </p:sp>
      <p:sp>
        <p:nvSpPr>
          <p:cNvPr id="48" name="ea48"/>
          <p:cNvSpPr/>
          <p:nvPr/>
        </p:nvSpPr>
        <p:spPr>
          <a:xfrm>
            <a:off x="4550000" y="2440000"/>
            <a:ext cx="18288" cy="460000"/>
          </a:xfrm>
          <a:prstGeom prst="rect">
            <a:avLst/>
          </a:prstGeom>
          <a:solidFill>
            <a:srgbClr val="C084FC"/>
          </a:solidFill>
          <a:ln w="0">
            <a:noFill/>
          </a:ln>
        </p:spPr>
      </p:sp>
      <p:sp>
        <p:nvSpPr>
          <p:cNvPr id="49" name="t49"/>
          <p:cNvSpPr/>
          <p:nvPr/>
        </p:nvSpPr>
        <p:spPr>
          <a:xfrm>
            <a:off x="4604864" y="2475000"/>
            <a:ext cx="4173376" cy="15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950" dirty="0">
                <a:solidFill>
                  <a:srgbClr val="B0C4DE"/>
                </a:solidFill>
                <a:latin typeface="Calibri"/>
              </a:rPr>
              <a:t>MOIC инвестора</a:t>
            </a:r>
          </a:p>
        </p:txBody>
      </p:sp>
      <p:sp>
        <p:nvSpPr>
          <p:cNvPr id="50" name="t50"/>
          <p:cNvSpPr/>
          <p:nvPr/>
        </p:nvSpPr>
        <p:spPr>
          <a:xfrm>
            <a:off x="4604864" y="2610000"/>
            <a:ext cx="4173376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1500" b="1" dirty="0">
                <a:solidFill>
                  <a:srgbClr val="C084FC"/>
                </a:solidFill>
                <a:latin typeface="Calibri"/>
              </a:rPr>
              <a:t>≥ 1.85×</a:t>
            </a:r>
          </a:p>
        </p:txBody>
      </p:sp>
      <p:sp>
        <p:nvSpPr>
          <p:cNvPr id="51" name="t51"/>
          <p:cNvSpPr/>
          <p:nvPr/>
        </p:nvSpPr>
        <p:spPr>
          <a:xfrm>
            <a:off x="4604864" y="2800000"/>
            <a:ext cx="4173376" cy="13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ru-RU" sz="800" dirty="0">
                <a:solidFill>
                  <a:srgbClr val="607890"/>
                </a:solidFill>
                <a:latin typeface="Calibri"/>
              </a:rPr>
              <a:t>на вложенные 26 000 тыс. ₽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PresentationFormat>Экран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Ladoga Boat Service — Инвестиционное предложение 2026</dc:title>
  <dc:subject>PptxGenJS Presentation</dc:subject>
  <dc:creator>PptxGenJS</dc:creator>
  <cp:lastModifiedBy>Алишка</cp:lastModifiedBy>
  <cp:revision>1</cp:revision>
  <dcterms:created xsi:type="dcterms:W3CDTF">2026-06-29T12:19:32Z</dcterms:created>
  <dcterms:modified xsi:type="dcterms:W3CDTF">2026-06-29T18:18:55Z</dcterms:modified>
</cp:coreProperties>
</file>