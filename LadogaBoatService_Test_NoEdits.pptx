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4.4000000000000004</c:v>
                </c:pt>
                <c:pt idx="1">
                  <c:v>7.2</c:v>
                </c:pt>
                <c:pt idx="2">
                  <c:v>10.6</c:v>
                </c:pt>
                <c:pt idx="3">
                  <c:v>13.9</c:v>
                </c:pt>
                <c:pt idx="4">
                  <c:v>17.3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00841584"/>
        <c:axId val="400840800"/>
      </c:barChart>
      <c:catAx>
        <c:axId val="400841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0800"/>
        <c:crosses val="autoZero"/>
        <c:auto val="1"/>
        <c:lblAlgn val="ctr"/>
        <c:lblOffset val="100"/>
        <c:noMultiLvlLbl val="1"/>
      </c:catAx>
      <c:valAx>
        <c:axId val="40084080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0A8B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0A8BC"/>
                    </a:solidFill>
                    <a:latin typeface="Arial"/>
                  </a:rPr>
                  <a:t>млн ₽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1584"/>
        <c:crosses val="autoZero"/>
        <c:crossBetween val="between"/>
      </c:valAx>
      <c:spPr>
        <a:solidFill>
          <a:srgbClr val="12264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26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Оптимистичный сценарий (млн ₽)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4.4000000000000004</c:v>
                </c:pt>
                <c:pt idx="1">
                  <c:v>7.2</c:v>
                </c:pt>
                <c:pt idx="2">
                  <c:v>10.6</c:v>
                </c:pt>
                <c:pt idx="3">
                  <c:v>13.9</c:v>
                </c:pt>
                <c:pt idx="4">
                  <c:v>17.3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Расходы</c:v>
                </c:pt>
              </c:strCache>
            </c:strRef>
          </c:tx>
          <c:spPr>
            <a:solidFill>
              <a:srgbClr val="1E3A5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5.4</c:v>
                </c:pt>
                <c:pt idx="1">
                  <c:v>6.7</c:v>
                </c:pt>
                <c:pt idx="2">
                  <c:v>7.8</c:v>
                </c:pt>
                <c:pt idx="3">
                  <c:v>8.1999999999999993</c:v>
                </c:pt>
                <c:pt idx="4">
                  <c:v>8.6999999999999993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0845896"/>
        <c:axId val="400844328"/>
      </c:barChart>
      <c:catAx>
        <c:axId val="400845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4328"/>
        <c:crosses val="autoZero"/>
        <c:auto val="1"/>
        <c:lblAlgn val="ctr"/>
        <c:lblOffset val="100"/>
        <c:noMultiLvlLbl val="1"/>
      </c:catAx>
      <c:valAx>
        <c:axId val="40084432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5896"/>
        <c:crosses val="autoZero"/>
        <c:crossBetween val="between"/>
      </c:valAx>
      <c:spPr>
        <a:solidFill>
          <a:srgbClr val="12264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0A8BC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1226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Базовый сценарий (млн ₽)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2ABFB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4.5</c:v>
                </c:pt>
                <c:pt idx="2">
                  <c:v>6.8</c:v>
                </c:pt>
                <c:pt idx="3">
                  <c:v>9.1999999999999993</c:v>
                </c:pt>
                <c:pt idx="4">
                  <c:v>11.5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Расходы</c:v>
                </c:pt>
              </c:strCache>
            </c:strRef>
          </c:tx>
          <c:spPr>
            <a:solidFill>
              <a:srgbClr val="1E3A5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4.8</c:v>
                </c:pt>
                <c:pt idx="1">
                  <c:v>5.6</c:v>
                </c:pt>
                <c:pt idx="2">
                  <c:v>6.3</c:v>
                </c:pt>
                <c:pt idx="3">
                  <c:v>7.1</c:v>
                </c:pt>
                <c:pt idx="4">
                  <c:v>7.7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0846680"/>
        <c:axId val="400846288"/>
      </c:barChart>
      <c:catAx>
        <c:axId val="400846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6288"/>
        <c:crosses val="autoZero"/>
        <c:auto val="1"/>
        <c:lblAlgn val="ctr"/>
        <c:lblOffset val="100"/>
        <c:noMultiLvlLbl val="1"/>
      </c:catAx>
      <c:valAx>
        <c:axId val="40084628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8BC"/>
                </a:solidFill>
                <a:latin typeface="Arial"/>
              </a:defRPr>
            </a:pPr>
            <a:endParaRPr lang="ru-RU"/>
          </a:p>
        </c:txPr>
        <c:crossAx val="400846680"/>
        <c:crosses val="autoZero"/>
        <c:crossBetween val="between"/>
      </c:valAx>
      <c:spPr>
        <a:solidFill>
          <a:srgbClr val="12264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0A8BC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1226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23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8288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" y="3017520"/>
            <a:ext cx="8449056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47472" y="3127248"/>
            <a:ext cx="8449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LADOGA BOAT SERVICE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347472" y="382219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Сервисный центр маломерного флота · Карелия · Сортавала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47472" y="4151376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Инвестиционное предложение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Рыночная возможность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 абсолютно свободна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Ближайший специализированный конкурент — в 170 км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10512"/>
            <a:ext cx="1993392" cy="2286000"/>
          </a:xfrm>
          <a:prstGeom prst="roundRect">
            <a:avLst>
              <a:gd name="adj" fmla="val 275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9202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38912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лодок и моторов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Сортавале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0392" y="1810512"/>
            <a:ext cx="987552" cy="36576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810512"/>
            <a:ext cx="1993392" cy="2286000"/>
          </a:xfrm>
          <a:prstGeom prst="roundRect">
            <a:avLst>
              <a:gd name="adj" fmla="val 275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87168" y="19202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578608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туристических баз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сервиса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0088" y="1810512"/>
            <a:ext cx="9875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810512"/>
            <a:ext cx="1993392" cy="2286000"/>
          </a:xfrm>
          <a:prstGeom prst="roundRect">
            <a:avLst>
              <a:gd name="adj" fmla="val 275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9202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18304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аэролодок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зимний сезон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9784" y="1810512"/>
            <a:ext cx="987552" cy="36576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810512"/>
            <a:ext cx="1993392" cy="2286000"/>
          </a:xfrm>
          <a:prstGeom prst="roundRect">
            <a:avLst>
              <a:gd name="adj" fmla="val 275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9202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858000" y="27889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специализированных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69480" y="1810512"/>
            <a:ext cx="987552" cy="36576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3159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 у воды · Встроенный клиентский поток Ladoga Boat · Команда уже есть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 · 5 направлений дохода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22960"/>
            <a:ext cx="54864" cy="70408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Стационарный сервис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ремонт, диагностика, установка оборудования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0" y="987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 – Осень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64592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645920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Выездной сервис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01168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 прямо в шхерах · чек 8–25 тыс. ₽ · конкурентов нет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– Октябрь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46888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468880"/>
            <a:ext cx="54864" cy="70408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60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Аэролодки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и ремонт 13–15 машин · закрывает зимний провал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 – Март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9184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291840"/>
            <a:ext cx="54864" cy="704088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Запчасти и топливо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Наценка 25–60% · дефицит у воды · постоянный доход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0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Круглый год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114800"/>
            <a:ext cx="8449056" cy="704088"/>
          </a:xfrm>
          <a:prstGeom prst="roundRect">
            <a:avLst>
              <a:gd name="adj" fmla="val 6494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114800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06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+ стоянка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Зимнее хранение 5–6 мес. · 3–8 тыс. ₽/мес. с единицы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 – Зима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· Оптимистичный сценарий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47472" y="804672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70448" y="804672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70448" y="804672"/>
            <a:ext cx="45720" cy="84124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16752" y="8503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 млн ₽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016752" y="1261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год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направлений)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70448" y="1755648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70448" y="1755648"/>
            <a:ext cx="45720" cy="8412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16752" y="18013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 млн ₽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016752" y="2212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год 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70448" y="2706624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70448" y="2706624"/>
            <a:ext cx="45720" cy="841248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16752" y="27523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16752" y="3163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безубыточность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70448" y="3657600"/>
            <a:ext cx="2926080" cy="841248"/>
          </a:xfrm>
          <a:prstGeom prst="roundRect">
            <a:avLst>
              <a:gd name="adj" fmla="val 65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70448" y="3657600"/>
            <a:ext cx="45720" cy="8412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16752" y="37033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млн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016752" y="4114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Инвестиций ₽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Инвестиционный бюджет · 14–17 млн ₽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Реновация объекта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 млн 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Здания 525 м² · участок 1,2 га у воды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822960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212848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5968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 млн ₽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Стенды, подъёмник, компрессор, инструмент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212848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602736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Катер для выезда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9867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млн ₽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" y="4407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Алюминий 4,5 м + Yamaha 40 л.с. + оснастка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" y="3602736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822960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Товарный склад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 млн ₽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56048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направление · оборот 4× · наценка 50%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47488" y="822960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212848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Оборотный капитал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25968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млн ₽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56048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ядра × 3 мес. · мастера уже есть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47488" y="2212848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3602736"/>
            <a:ext cx="4224528" cy="1243584"/>
          </a:xfrm>
          <a:prstGeom prst="roundRect">
            <a:avLst>
              <a:gd name="adj" fmla="val 441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+ резерв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39867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 млн ₽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956048" y="4407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Реклама, CRM, страховка, непредвиденное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7488" y="3602736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сработает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0467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КМ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Монополия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специализированный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в радиусе 170 км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80467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04672"/>
            <a:ext cx="2743200" cy="457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 у воды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Выездной ремонт прямо в шхерах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такого нет нигде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80467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804672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27648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готова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мастера с 5+ лет опыта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готовы к найму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81635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816352"/>
            <a:ext cx="2743200" cy="457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38912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Синергия LB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37673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Ladoga Boat даёт 30–40% клиентов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маркетинговых затрат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81635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816352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ГИМС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383280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 капитана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37673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— действующий капитан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(все категории)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36208" y="2816352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36208" y="2816352"/>
            <a:ext cx="2743200" cy="4572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мес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327648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Круглый год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27648" y="37673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Аэролодки закрывают зимний провал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не останавливается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· 7 месяцев до открытия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34640"/>
            <a:ext cx="74980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688336"/>
            <a:ext cx="310896" cy="310896"/>
          </a:xfrm>
          <a:prstGeom prst="ellipse">
            <a:avLst/>
          </a:prstGeom>
          <a:solidFill>
            <a:srgbClr val="C9A84C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810512"/>
            <a:ext cx="0" cy="877824"/>
          </a:xfrm>
          <a:prstGeom prst="line">
            <a:avLst/>
          </a:prstGeom>
          <a:noFill/>
          <a:ln w="10160">
            <a:solidFill>
              <a:srgbClr val="C9A84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НЕД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по участку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2688336"/>
            <a:ext cx="310896" cy="310896"/>
          </a:xfrm>
          <a:prstGeom prst="ellipse">
            <a:avLst/>
          </a:prstGeom>
          <a:solidFill>
            <a:srgbClr val="2ABFBF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8336" y="1810512"/>
            <a:ext cx="0" cy="877824"/>
          </a:xfrm>
          <a:prstGeom prst="line">
            <a:avLst/>
          </a:prstGeom>
          <a:noFill/>
          <a:ln w="10160">
            <a:solidFill>
              <a:srgbClr val="2ABFB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19456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НЕД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команды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2688336"/>
            <a:ext cx="310896" cy="310896"/>
          </a:xfrm>
          <a:prstGeom prst="ellipse">
            <a:avLst/>
          </a:prstGeom>
          <a:solidFill>
            <a:srgbClr val="C9A84C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810512"/>
            <a:ext cx="0" cy="877824"/>
          </a:xfrm>
          <a:prstGeom prst="line">
            <a:avLst/>
          </a:prstGeom>
          <a:noFill/>
          <a:ln w="10160">
            <a:solidFill>
              <a:srgbClr val="C9A84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6908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МЕС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Техобследование зданий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81928" y="2688336"/>
            <a:ext cx="310896" cy="310896"/>
          </a:xfrm>
          <a:prstGeom prst="ellipse">
            <a:avLst/>
          </a:prstGeom>
          <a:solidFill>
            <a:srgbClr val="2ABFBF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1810512"/>
            <a:ext cx="0" cy="877824"/>
          </a:xfrm>
          <a:prstGeom prst="line">
            <a:avLst/>
          </a:prstGeom>
          <a:noFill/>
          <a:ln w="10160">
            <a:solidFill>
              <a:srgbClr val="2ABFB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МЕС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аренды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56448" y="2688336"/>
            <a:ext cx="310896" cy="310896"/>
          </a:xfrm>
          <a:prstGeom prst="ellipse">
            <a:avLst/>
          </a:prstGeom>
          <a:solidFill>
            <a:srgbClr val="1DB87E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1896" y="1810512"/>
            <a:ext cx="0" cy="877824"/>
          </a:xfrm>
          <a:prstGeom prst="line">
            <a:avLst/>
          </a:prstGeom>
          <a:noFill/>
          <a:ln w="10160">
            <a:solidFill>
              <a:srgbClr val="1DB87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818120" y="1417320"/>
            <a:ext cx="987552" cy="347472"/>
          </a:xfrm>
          <a:prstGeom prst="roundRect">
            <a:avLst>
              <a:gd name="adj" fmla="val 10526"/>
            </a:avLst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4173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Реновация и открытие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71600" y="4114800"/>
            <a:ext cx="6400800" cy="658368"/>
          </a:xfrm>
          <a:prstGeom prst="roundRect">
            <a:avLst>
              <a:gd name="adj" fmla="val 6944"/>
            </a:avLst>
          </a:prstGeom>
          <a:solidFill>
            <a:srgbClr val="C9A84C">
              <a:alpha val="12000"/>
            </a:srgbClr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41148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к майскому лодочному сезону — максимальный спрос с первого дня работы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Войдите первыми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47472" y="19933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свободную нишу Карелии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47472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292608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035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млн 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8912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инвестиций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292608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3035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2–3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4992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 плюс год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292608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3035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млн ₽/год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91072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год 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сделки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формата участия — выберите подходящий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4114800" cy="3383280"/>
          </a:xfrm>
          <a:prstGeom prst="roundRect">
            <a:avLst>
              <a:gd name="adj" fmla="val 16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98448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Займ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0352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млн 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годовых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145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1455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Ежеквартально с года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лет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9867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9867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20–26 млн ₽ (тело + 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1728" y="1298448"/>
            <a:ext cx="4114800" cy="3383280"/>
          </a:xfrm>
          <a:prstGeom prst="roundRect">
            <a:avLst>
              <a:gd name="adj" fmla="val 1622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1298448"/>
            <a:ext cx="4114800" cy="5486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4608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 ООО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64608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304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млн ₽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7249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(инвестор) / 40% (основатель)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3145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1455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Наблюдательный совет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Выкуп доли через 5 лет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39867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9867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Дивиденды с года 4–5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модель · P&amp;L по сценариям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47472" y="804672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577840" y="804672"/>
          <a:ext cx="3218688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47472" y="3858768"/>
            <a:ext cx="201168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93192" y="38770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35915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0487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54787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9359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3659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8231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3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2531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7103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4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114032" y="3858768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59752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5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47472" y="4078224"/>
            <a:ext cx="201168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93192" y="4096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(опт.)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35915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40487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54787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9359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73659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8231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92531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7103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114032" y="4078224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159752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47472" y="4297680"/>
            <a:ext cx="201168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93192" y="43159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35915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40487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54787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59359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73659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78231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92531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97103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7114032" y="4297680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159752" y="4315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347472" y="4517136"/>
            <a:ext cx="201168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93192" y="4535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(опт.)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235915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40487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−1,0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54787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59359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+0,6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473659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78231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+2,7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592531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97103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+5,6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7114032" y="4517136"/>
            <a:ext cx="1188720" cy="219456"/>
          </a:xfrm>
          <a:prstGeom prst="rect">
            <a:avLst/>
          </a:prstGeom>
          <a:solidFill>
            <a:srgbClr val="122644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159752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+8,6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347472" y="4736592"/>
            <a:ext cx="201168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393192" y="4754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(база)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235915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240487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−2,3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354787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59359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−1,1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473659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78231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+0,5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592531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597103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+2,1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7114032" y="4736592"/>
            <a:ext cx="1188720" cy="219456"/>
          </a:xfrm>
          <a:prstGeom prst="rect">
            <a:avLst/>
          </a:prstGeom>
          <a:solidFill>
            <a:srgbClr val="0F2D4A"/>
          </a:solidFill>
          <a:ln w="3810">
            <a:solidFill>
              <a:srgbClr val="1E3A5A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7159752" y="4754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+3,8</a:t>
            </a:r>
            <a:endParaRPr lang="en-US" sz="950" dirty="0"/>
          </a:p>
        </p:txBody>
      </p:sp>
      <p:sp>
        <p:nvSpPr>
          <p:cNvPr id="68" name="Text 64"/>
          <p:cNvSpPr/>
          <p:nvPr/>
        </p:nvSpPr>
        <p:spPr>
          <a:xfrm>
            <a:off x="347472" y="4983480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Расходы год 2+ включают полный ФОТ этапа 2. Год 1 ФОТ ядра частично покрыт инвест.бюджетом.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спроса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04672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54864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060704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04241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89611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Ladoga Boat — живая база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521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Действующая платформа аренды лодок в Сортавале. Клиенты регулярно задают вопросы о сервисе и ремонте — это неудовлетворённый спрос внутри уже существующей аудитории.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645920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645920"/>
            <a:ext cx="54864" cy="7315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901952"/>
            <a:ext cx="219456" cy="219456"/>
          </a:xfrm>
          <a:prstGeom prst="ellipse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88366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173736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 аэролодок — известные клиенты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19933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 аэролодок в районе лично знакомы руководителю. Устные договорённости об обслуживании получены. Это гарантированный зимний поток с первого сезона.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487168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487168"/>
            <a:ext cx="54864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743200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72491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57860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Туристические базы — переговоры идут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8346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Проведены первичные переговоры с 3 туристическими базами района. Две подтвердили интерес к абонентскому договору на обслуживание флота.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328416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328416"/>
            <a:ext cx="54864" cy="7315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584448"/>
            <a:ext cx="219456" cy="219456"/>
          </a:xfrm>
          <a:prstGeom prst="ellipse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5661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41985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подтверждён ГИМС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6758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300+ зарегистрированных судах в районе — официальная статистика ГИМС МЧС России по Сортавальскому муниципальному округу.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169664"/>
            <a:ext cx="8449056" cy="731520"/>
          </a:xfrm>
          <a:prstGeom prst="roundRect">
            <a:avLst>
              <a:gd name="adj" fmla="val 6250"/>
            </a:avLst>
          </a:prstGeom>
          <a:solidFill>
            <a:srgbClr val="122644"/>
          </a:solidFill>
          <a:ln w="6350">
            <a:solidFill>
              <a:srgbClr val="1E3A5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4169664"/>
            <a:ext cx="54864" cy="731520"/>
          </a:xfrm>
          <a:prstGeom prst="rect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4425696"/>
            <a:ext cx="219456" cy="219456"/>
          </a:xfrm>
          <a:prstGeom prst="ellipse">
            <a:avLst/>
          </a:prstGeom>
          <a:solidFill>
            <a:srgbClr val="1DB87E"/>
          </a:solidFill>
          <a:ln w="12700">
            <a:solidFill>
              <a:srgbClr val="1DB8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44074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26110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Ближайший конкурент — 170 км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51713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лично: обзвон сервисных центров Карелии и картографический анализ. Специализированного сервиса нет ни в Сортавале, ни в радиусе 170 км.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04672"/>
            <a:ext cx="2743200" cy="3977640"/>
          </a:xfrm>
          <a:prstGeom prst="roundRect">
            <a:avLst>
              <a:gd name="adj" fmla="val 2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914400"/>
            <a:ext cx="822960" cy="822960"/>
          </a:xfrm>
          <a:prstGeom prst="ellipse">
            <a:avLst/>
          </a:prstGeom>
          <a:solidFill>
            <a:srgbClr val="C9A84C">
              <a:alpha val="25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/ Руководитель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" y="2487168"/>
            <a:ext cx="219456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Действующий капитан ГИМС — все категории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3081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Основатель платформы Ladoga Boat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3557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Опыт на Ладоге — знает рынок изнутри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40325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Переговоры с арендодателем и мастерами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804672"/>
            <a:ext cx="2743200" cy="3977640"/>
          </a:xfrm>
          <a:prstGeom prst="roundRect">
            <a:avLst>
              <a:gd name="adj" fmla="val 2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804672"/>
            <a:ext cx="2743200" cy="5486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914400"/>
            <a:ext cx="822960" cy="822960"/>
          </a:xfrm>
          <a:prstGeom prst="ellipse">
            <a:avLst/>
          </a:prstGeom>
          <a:solidFill>
            <a:srgbClr val="2ABFBF">
              <a:alpha val="25000"/>
            </a:srgbClr>
          </a:solidFill>
          <a:ln w="19050">
            <a:solidFill>
              <a:srgbClr val="2A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918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№1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мастер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2487168"/>
            <a:ext cx="219456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5+ лет опыта ремонта лодочных моторов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56432" y="3081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Специализация: Yamaha, Mercury, Tohatsu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3557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Работал на Ладоге — знает специфику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56432" y="40325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Предварительное соглашение о найме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36208" y="804672"/>
            <a:ext cx="2743200" cy="3977640"/>
          </a:xfrm>
          <a:prstGeom prst="roundRect">
            <a:avLst>
              <a:gd name="adj" fmla="val 2000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36208" y="804672"/>
            <a:ext cx="2743200" cy="5486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914400"/>
            <a:ext cx="822960" cy="822960"/>
          </a:xfrm>
          <a:prstGeom prst="ellipse">
            <a:avLst/>
          </a:prstGeom>
          <a:solidFill>
            <a:srgbClr val="2ABFBF">
              <a:alpha val="25000"/>
            </a:srgbClr>
          </a:solidFill>
          <a:ln w="19050">
            <a:solidFill>
              <a:srgbClr val="2A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36208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№2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36208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сервиса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10528" y="2487168"/>
            <a:ext cx="2194560" cy="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5+ лет опыта, аэролодки и 4-такты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081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Специализация: Rotax, ВАЗ, сварка рам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557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Единственный в районе с опытом аэролодок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40325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Предварительное соглашение о найме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2688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риски и митигация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932688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9326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53312" y="914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аренды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22529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Реновация 5,3 млн ₽ в чужой объект — риск потери вложений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2064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Аренда 5 лет фикс. ставка + право выкупа + зачёт вложений в договоре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19472" y="932688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9326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60720" y="914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22529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Без привлечения инвестиций проект не стартует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19472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Параллельные переговоры с 2+ инвесторами; поэтапное финансирование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267712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" y="2377440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3774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53312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мастера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26700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Уход ключевого мастера останавливает сервис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2064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Предварительные договоры; схема оклад + % от выручки как удержание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67712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2377440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3774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6072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поток в год 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26700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Выручка 3–4 млн вместо 7 млн — дефицит операционного кэша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9472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Ladoga Boat как якорный заказчик; договоры с турбазами до открытия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712464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" y="3822192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3822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53312" y="3803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дефекты здания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" y="41148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Смета реновации вырастет сверх бюджета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2064" y="44622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Техобследование строительным экспертом до подписания аренды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712464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122644"/>
          </a:solidFill>
          <a:ln w="1016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19472" y="3822192"/>
            <a:ext cx="777240" cy="237744"/>
          </a:xfrm>
          <a:prstGeom prst="roundRect">
            <a:avLst>
              <a:gd name="adj" fmla="val 11538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822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60720" y="3803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Нехватка электричества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41148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Риск: Оборудование требует мин. 50 кВт — риск отказа сетей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19472" y="44622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Запрос ТУ в Карелэнерго до подписания. При отказе — дизель-генератор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Microsoft Office PowerPoint</Application>
  <PresentationFormat>Экран (16:9)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Ladoga Boat Service — Инвестиционное предложение 2026</dc:title>
  <dc:subject>PptxGenJS Presentation</dc:subject>
  <dc:creator>PptxGenJS</dc:creator>
  <cp:lastModifiedBy>Алишка</cp:lastModifiedBy>
  <cp:revision>1</cp:revision>
  <dcterms:created xsi:type="dcterms:W3CDTF">2026-06-29T12:19:32Z</dcterms:created>
  <dcterms:modified xsi:type="dcterms:W3CDTF">2026-06-29T18:18:55Z</dcterms:modified>
</cp:coreProperties>
</file>